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uZchHy-ec36L0IdKQG83wHaHa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3" r:id="rId10"/>
    <p:sldId id="267" r:id="rId11"/>
    <p:sldId id="262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796D8A-E78C-4044-863F-E611E59674F7}" v="7" dt="2026-08-13T03:01:42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7F50-D81B-733A-D040-5823F2E63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69449-8F02-7CFC-CE3E-C53631285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F46AB-404B-C1B2-261E-62844529A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3BE90-F039-8C0E-E7C7-BB1A6604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C6616-66D1-8A5F-5E45-E850EE22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32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86D6-92AB-869C-DA18-F662F979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D9C7E-2630-59A2-8702-CC98920CD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80F99-D3A2-3A49-85F1-FCA20313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13688-F548-24DD-4224-8BB4FB93A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03695-484D-8F54-0911-8273E6C7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46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245D-37EE-BF86-1666-B5C5A65C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F11DF-4E10-3F24-46FB-D0F3A4C0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A3583-073C-DDD9-08E6-DC271556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5A8F8-DE03-5697-FFC2-504A10FD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ACBB0-0AE5-9BDF-EC51-9D73EA51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25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F2A7-DBC6-F71A-546A-46D48B37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43F7A-4CC1-3329-220A-9C41B275C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85E27-7BA4-B7C7-5351-1CE00C8A2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A303E-9EB7-CA67-4713-360EB391A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AA4B7-9C25-187F-0E62-EE6E893E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EF7A2-4E26-2E00-B3E0-79B33F6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44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9171-9E55-C9AD-3CD4-369D77B4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090-896B-46F7-8664-C3B0D25EB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85072-3457-EF60-845D-796FF1047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79CE4-8A80-CA40-54C9-27BE38BB9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47CC16-C701-7060-CD06-9F337F193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94E7-054E-C199-EB1A-A86B82F38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041918-6B35-0850-2958-C9B7E064D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7FCD1-C345-C4C0-4CEC-E094AA0E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46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63D17-74CE-491F-4CF7-5CB60C91F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98AB2-8E23-1E3F-A196-340D9B3B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E1C47-FF0E-F7AF-48DE-F59C286C2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21853-E1E0-9CF3-837C-D9FD3DB4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15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A45F3-B14A-3213-D288-9E20757FB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01829-E4AB-CD78-851B-89AEE4BA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0EFC2-A19F-7B59-1962-ABE7C07C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9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8039-1249-3DD3-4724-F9EE0D4D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4119F-6C03-2A8D-8F3B-73206FC89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2A9DD-C5FD-AA7E-3E0A-9C2D708D0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628A1-E04B-5270-4A6E-74694A8A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5330E-56CA-C84F-1A87-BC99D414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C97B5-931A-A159-9238-2DB2FBF3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37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F5CF-DFC5-6FA3-949C-F7D691AA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C4E6B4-830A-FC95-6FEA-6380093DE6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51745-56C2-35E6-9ED2-2C82A7A41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41D48-498F-E3AB-268F-7F9C9F64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601AE-5F27-3BE6-C861-411890D0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A4741-10D0-91B8-9CCC-34ABAA55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84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3788-1564-349F-91F2-B161BBF8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0935F-2225-AE9E-64C6-E2E7F8BF3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92314-2588-E687-27FD-31387962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07189-8F43-9A53-F5EA-4212B6A9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1FF20-EB9D-3738-3E7B-466AB0EF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4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76A91-C3EC-5C4A-D351-A66B9DFAA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CF3E5-782D-B27D-38D9-F5678574B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1F9E2-EAEA-B11F-C3F9-A698519E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5B833-763C-6673-D944-8B887C96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19A95-09F2-66D2-BBBC-5CD1DA96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81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94412-36F5-8E7F-6DE0-560559EB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97506-5972-C23D-F2F1-A75D96841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A551D-55FB-22AC-1E3B-1D0DA970A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F00A3-5F57-410C-944E-32F03BB0435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F918B-C19D-CD26-C0B0-C5D6A2BCE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07934-7A7E-F2DB-0CB8-8090E7A33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8694D-3D49-4822-80FC-2736A28F8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50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VuZchHy-ec36L0IdKQG83wHaHa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35DF-84E8-23B2-1317-1B5F89D1C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4278" y="1388576"/>
            <a:ext cx="10019071" cy="106359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Waste Classification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29959-148A-5843-A6DF-FF58A4DC8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4278" y="3088303"/>
            <a:ext cx="9144000" cy="1655762"/>
          </a:xfrm>
        </p:spPr>
        <p:txBody>
          <a:bodyPr>
            <a:normAutofit/>
          </a:bodyPr>
          <a:lstStyle/>
          <a:p>
            <a:r>
              <a:rPr lang="en-IN" sz="1600" dirty="0"/>
              <a:t>Presented by</a:t>
            </a:r>
          </a:p>
          <a:p>
            <a:br>
              <a:rPr lang="en-IN" sz="1600" dirty="0"/>
            </a:br>
            <a:r>
              <a:rPr lang="en-IN" sz="1600" dirty="0"/>
              <a:t>D. Lokesh (192372216)</a:t>
            </a:r>
          </a:p>
          <a:p>
            <a:r>
              <a:rPr lang="en-IN" sz="1600" dirty="0"/>
              <a:t>R. Vishwa Teja (192372109)</a:t>
            </a:r>
          </a:p>
          <a:p>
            <a:r>
              <a:rPr lang="en-IN" sz="1600" dirty="0"/>
              <a:t>T. Charani Kirthi Sri (192312550)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BBDFEB59-8F0A-EF74-752E-A6D15485F02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39310" y="634182"/>
            <a:ext cx="9601200" cy="8551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9AA4E9-46B3-D564-8925-0B733F38BC62}"/>
              </a:ext>
            </a:extLst>
          </p:cNvPr>
          <p:cNvSpPr txBox="1"/>
          <p:nvPr/>
        </p:nvSpPr>
        <p:spPr>
          <a:xfrm>
            <a:off x="865238" y="5791200"/>
            <a:ext cx="363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Guided by: </a:t>
            </a:r>
          </a:p>
          <a:p>
            <a:r>
              <a:rPr lang="en-IN" dirty="0"/>
              <a:t>Dr Krishna Kumar</a:t>
            </a:r>
          </a:p>
        </p:txBody>
      </p:sp>
    </p:spTree>
    <p:extLst>
      <p:ext uri="{BB962C8B-B14F-4D97-AF65-F5344CB8AC3E}">
        <p14:creationId xmlns:p14="http://schemas.microsoft.com/office/powerpoint/2010/main" val="115967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png">
            <a:extLst>
              <a:ext uri="{FF2B5EF4-FFF2-40B4-BE49-F238E27FC236}">
                <a16:creationId xmlns:a16="http://schemas.microsoft.com/office/drawing/2014/main" id="{DD6CD0CB-B06F-292A-E57E-1D728A2525E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49820" y="529079"/>
            <a:ext cx="9601200" cy="8551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934569-6985-0115-4EBC-7196A0275A75}"/>
              </a:ext>
            </a:extLst>
          </p:cNvPr>
          <p:cNvSpPr txBox="1"/>
          <p:nvPr/>
        </p:nvSpPr>
        <p:spPr>
          <a:xfrm>
            <a:off x="4246179" y="1650124"/>
            <a:ext cx="3846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F4798-24B8-D33C-B626-F615D05F3497}"/>
              </a:ext>
            </a:extLst>
          </p:cNvPr>
          <p:cNvSpPr txBox="1"/>
          <p:nvPr/>
        </p:nvSpPr>
        <p:spPr>
          <a:xfrm>
            <a:off x="641130" y="2564525"/>
            <a:ext cx="1130913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Waste Classification System is an automated system designed to identify and separate different types of waste, such as plastic, paper, metal, glass, and organic waste.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smart technologies like sensors, cameras, Artificial Intelligence (AI), and machine learning to detect and classify waste accurately.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effort, saves time, and makes waste segregation safer and more efficient.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classification helps improve recycling, reduce environmental pollution, and minimize improper waste disposal.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36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1.png">
            <a:extLst>
              <a:ext uri="{FF2B5EF4-FFF2-40B4-BE49-F238E27FC236}">
                <a16:creationId xmlns:a16="http://schemas.microsoft.com/office/drawing/2014/main" id="{BDF24AC7-B836-356E-172C-FB87AF43889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44413" y="392444"/>
            <a:ext cx="9601200" cy="855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D28CD3-56A0-1944-AB24-D7C225D1D8B7}"/>
              </a:ext>
            </a:extLst>
          </p:cNvPr>
          <p:cNvSpPr txBox="1"/>
          <p:nvPr/>
        </p:nvSpPr>
        <p:spPr>
          <a:xfrm>
            <a:off x="304800" y="1937656"/>
            <a:ext cx="1166948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                              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endParaRPr lang="en-IN" b="1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waste segregation causes pollution and increases landfill waste.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waste sorting is time-consuming, labour-intensive, and unsafe for workers.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waste makes recycling and proper disposal difficult.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to identify and classify different waste materials.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use AI, sensors, and cameras to improve waste segregation, recycling, and overall waste-management efficiency.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79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78E6-34D3-C5D3-5A75-05F254F6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162"/>
            <a:ext cx="10515600" cy="114008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02AE8-0AD6-59FD-EDAE-EB955ECF4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2203"/>
            <a:ext cx="10515600" cy="385557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system to automatically classify waste into different categories.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waste segregation accuracy and reduce manual effort.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recycling by identifying recyclable and non-recyclable waste.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environmental pollution through proper waste management.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real-time waste classification using image processing and machine learning.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18FA0DB8-9E69-50A8-F1F6-858E0EF3327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39310" y="634182"/>
            <a:ext cx="9601200" cy="85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3F09-2540-2C5A-148C-9E4738DE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968" y="156466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Waste Image Collection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97AC-1B3C-44D3-5F10-76593F64D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910" y="2785241"/>
            <a:ext cx="10708658" cy="36191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labelled waste images from datasets such as  Kaggle.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Resize and normalize images to a standard format for model training.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noisy or duplicate images to improve data quality.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training, validation, and testing sets.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638363AD-BAD1-A833-EF78-525ECC5D003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17968" y="551370"/>
            <a:ext cx="9601200" cy="85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3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996D9-0ABC-6204-191A-D43FAA26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884" y="1582994"/>
            <a:ext cx="10515600" cy="90410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AI-Based Waste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FC5AA-7025-CB86-BA6A-E8E56E42B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007" y="2627587"/>
            <a:ext cx="10838793" cy="354937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deep learning model using the pre-processed waste images.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Classify waste into categories such as Plastic, Paper, Glass, Metal, Cardboard, and Trash.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accuracy, precision, and recall metrics.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waste category for new images in real time.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B07D1E25-3A4B-A24A-3B4A-191CB7E56991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95400" y="471792"/>
            <a:ext cx="9601200" cy="85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5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58B2-FC43-E0E7-470C-3AF7C0B11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149" y="1730937"/>
            <a:ext cx="10515600" cy="92377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Dashboard &amp;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2C4FA-0AB5-17D1-4CF7-279CA28AF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3711"/>
            <a:ext cx="10515600" cy="34232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predicted waste category and confidence score.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classification results in a database or CSV file.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showing the number of items in each waste category.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Visualize waste statistics using charts and graphs for analysis.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FFB6F7E3-9A39-FB33-BF02-C63432C30F0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17968" y="551370"/>
            <a:ext cx="9601200" cy="85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1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C72018E-9232-10D3-AB7A-82EC8A26DC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995784"/>
              </p:ext>
            </p:extLst>
          </p:nvPr>
        </p:nvGraphicFramePr>
        <p:xfrm>
          <a:off x="1415844" y="1229032"/>
          <a:ext cx="9724104" cy="5153446"/>
        </p:xfrm>
        <a:graphic>
          <a:graphicData uri="http://schemas.openxmlformats.org/drawingml/2006/table">
            <a:tbl>
              <a:tblPr/>
              <a:tblGrid>
                <a:gridCol w="2431026">
                  <a:extLst>
                    <a:ext uri="{9D8B030D-6E8A-4147-A177-3AD203B41FA5}">
                      <a16:colId xmlns:a16="http://schemas.microsoft.com/office/drawing/2014/main" val="2050115773"/>
                    </a:ext>
                  </a:extLst>
                </a:gridCol>
                <a:gridCol w="2431026">
                  <a:extLst>
                    <a:ext uri="{9D8B030D-6E8A-4147-A177-3AD203B41FA5}">
                      <a16:colId xmlns:a16="http://schemas.microsoft.com/office/drawing/2014/main" val="1421458801"/>
                    </a:ext>
                  </a:extLst>
                </a:gridCol>
                <a:gridCol w="2431026">
                  <a:extLst>
                    <a:ext uri="{9D8B030D-6E8A-4147-A177-3AD203B41FA5}">
                      <a16:colId xmlns:a16="http://schemas.microsoft.com/office/drawing/2014/main" val="3688679473"/>
                    </a:ext>
                  </a:extLst>
                </a:gridCol>
                <a:gridCol w="2431026">
                  <a:extLst>
                    <a:ext uri="{9D8B030D-6E8A-4147-A177-3AD203B41FA5}">
                      <a16:colId xmlns:a16="http://schemas.microsoft.com/office/drawing/2014/main" val="3515846085"/>
                    </a:ext>
                  </a:extLst>
                </a:gridCol>
              </a:tblGrid>
              <a:tr h="4615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207709"/>
                  </a:ext>
                </a:extLst>
              </a:tr>
              <a:tr h="10576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65358"/>
                  </a:ext>
                </a:extLst>
              </a:tr>
              <a:tr h="8589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611993"/>
                  </a:ext>
                </a:extLst>
              </a:tr>
              <a:tr h="10576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49842"/>
                  </a:ext>
                </a:extLst>
              </a:tr>
              <a:tr h="8589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300043"/>
                  </a:ext>
                </a:extLst>
              </a:tr>
              <a:tr h="8589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49190" marR="49190" marT="24595" marB="24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6681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63B022-C6E1-6CED-6464-D1D459E70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812255"/>
              </p:ext>
            </p:extLst>
          </p:nvPr>
        </p:nvGraphicFramePr>
        <p:xfrm>
          <a:off x="105103" y="252248"/>
          <a:ext cx="11937364" cy="60732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84341">
                  <a:extLst>
                    <a:ext uri="{9D8B030D-6E8A-4147-A177-3AD203B41FA5}">
                      <a16:colId xmlns:a16="http://schemas.microsoft.com/office/drawing/2014/main" val="3269702097"/>
                    </a:ext>
                  </a:extLst>
                </a:gridCol>
                <a:gridCol w="2984341">
                  <a:extLst>
                    <a:ext uri="{9D8B030D-6E8A-4147-A177-3AD203B41FA5}">
                      <a16:colId xmlns:a16="http://schemas.microsoft.com/office/drawing/2014/main" val="2951080634"/>
                    </a:ext>
                  </a:extLst>
                </a:gridCol>
                <a:gridCol w="2984341">
                  <a:extLst>
                    <a:ext uri="{9D8B030D-6E8A-4147-A177-3AD203B41FA5}">
                      <a16:colId xmlns:a16="http://schemas.microsoft.com/office/drawing/2014/main" val="436462157"/>
                    </a:ext>
                  </a:extLst>
                </a:gridCol>
                <a:gridCol w="2984341">
                  <a:extLst>
                    <a:ext uri="{9D8B030D-6E8A-4147-A177-3AD203B41FA5}">
                      <a16:colId xmlns:a16="http://schemas.microsoft.com/office/drawing/2014/main" val="1736791151"/>
                    </a:ext>
                  </a:extLst>
                </a:gridCol>
              </a:tblGrid>
              <a:tr h="54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Objective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Module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Dataset Component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How They Are Connected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002634"/>
                  </a:ext>
                </a:extLst>
              </a:tr>
              <a:tr h="1008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Automatically classify waste using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1: Waste Image Collection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Labelled waste images (Plastic, Paper, Glass, Metal, Cardboard, Trash)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images are collected, cleaned, resized, and prepared for training the AI model.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544952"/>
                  </a:ext>
                </a:extLst>
              </a:tr>
              <a:tr h="1004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 waste segregation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2: Waste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Training, Validation, and Test image 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AI model learns from the training images and predicts the correct waste category.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451341"/>
                  </a:ext>
                </a:extLst>
              </a:tr>
              <a:tr h="1236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Promote recycling and reduce pollution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2: Waste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Waste category labels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predicted category helps users separate recyclable and non-recyclable waste correctly.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959850"/>
                  </a:ext>
                </a:extLst>
              </a:tr>
              <a:tr h="1004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 real-time waste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3: Dashboard &amp;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Prediction results (CSV/Database)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classified results are stored and displayed to users through a dashboard.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274897"/>
                  </a:ext>
                </a:extLst>
              </a:tr>
              <a:tr h="775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reports for waste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 3: Dashboard &amp;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Prediction history, confidence scores, timestamps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These records are used to create charts, reports, and waste statistics.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410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2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1.png">
            <a:extLst>
              <a:ext uri="{FF2B5EF4-FFF2-40B4-BE49-F238E27FC236}">
                <a16:creationId xmlns:a16="http://schemas.microsoft.com/office/drawing/2014/main" id="{383439A1-4A93-4125-0C3E-CD607BF778A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95423" y="59296"/>
            <a:ext cx="10217094" cy="855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599405-3455-BA18-B27A-D16F92754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9" y="1241056"/>
            <a:ext cx="10753947" cy="544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7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>
            <a:extLst>
              <a:ext uri="{FF2B5EF4-FFF2-40B4-BE49-F238E27FC236}">
                <a16:creationId xmlns:a16="http://schemas.microsoft.com/office/drawing/2014/main" id="{2F0B4FB3-6289-1830-02B6-C36F2C18117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54912" y="314477"/>
            <a:ext cx="10217094" cy="855104"/>
          </a:xfrm>
          <a:prstGeom prst="rect">
            <a:avLst/>
          </a:prstGeom>
        </p:spPr>
      </p:pic>
      <p:pic>
        <p:nvPicPr>
          <p:cNvPr id="3" name="Image 13">
            <a:extLst>
              <a:ext uri="{FF2B5EF4-FFF2-40B4-BE49-F238E27FC236}">
                <a16:creationId xmlns:a16="http://schemas.microsoft.com/office/drawing/2014/main" id="{6F185950-DDBF-0309-19F3-B1F1311E803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2208" y="2424223"/>
            <a:ext cx="3342471" cy="3508743"/>
          </a:xfrm>
          <a:prstGeom prst="rect">
            <a:avLst/>
          </a:prstGeom>
        </p:spPr>
      </p:pic>
      <p:pic>
        <p:nvPicPr>
          <p:cNvPr id="4" name="Image 14">
            <a:extLst>
              <a:ext uri="{FF2B5EF4-FFF2-40B4-BE49-F238E27FC236}">
                <a16:creationId xmlns:a16="http://schemas.microsoft.com/office/drawing/2014/main" id="{C6F02C34-83C1-4E82-F105-822A1828F956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18837" y="2424223"/>
            <a:ext cx="7187610" cy="3944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04F3C8-BBD8-489A-D9E9-2797168640B9}"/>
              </a:ext>
            </a:extLst>
          </p:cNvPr>
          <p:cNvSpPr txBox="1"/>
          <p:nvPr/>
        </p:nvSpPr>
        <p:spPr>
          <a:xfrm>
            <a:off x="4433776" y="1275907"/>
            <a:ext cx="22115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42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2E2-E4ED-0D22-2454-119A44B5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646" y="1761766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C6632-053A-18AC-6A96-63A86CCC2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7329"/>
            <a:ext cx="10515600" cy="308963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Waste Classification System automates waste segregation using AI, improving accuracy and reducing manual effort.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promotes proper recycling and supports efficient waste management, contributing to a cleaner environment.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A7567B95-EDD8-65F7-CEAA-71AC09CB9F5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27800" y="478268"/>
            <a:ext cx="9601200" cy="85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5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7CCD41-CDCC-1356-43D3-DE5018CA9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9034"/>
            <a:ext cx="12265572" cy="714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4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625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Smart Waste Classification System</vt:lpstr>
      <vt:lpstr>PowerPoint Presentation</vt:lpstr>
      <vt:lpstr>PowerPoint Presentation</vt:lpstr>
      <vt:lpstr>                              Objective</vt:lpstr>
      <vt:lpstr>Module 1: Waste Image Collection &amp; Preprocessing</vt:lpstr>
      <vt:lpstr>Module 2: AI-Based Waste Classification</vt:lpstr>
      <vt:lpstr>Module 3: Dashboard &amp; Reporting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charani keerthi</dc:creator>
  <cp:lastModifiedBy>muni kumar</cp:lastModifiedBy>
  <cp:revision>3</cp:revision>
  <dcterms:created xsi:type="dcterms:W3CDTF">2026-07-25T04:31:02Z</dcterms:created>
  <dcterms:modified xsi:type="dcterms:W3CDTF">2026-08-27T03:28:42Z</dcterms:modified>
</cp:coreProperties>
</file>